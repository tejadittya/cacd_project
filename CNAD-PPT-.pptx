
<file path=[Content_Types].xml><?xml version="1.0" encoding="utf-8"?>
<Types xmlns="http://schemas.openxmlformats.org/package/2006/content-types">
  <Default Extension="xml" ContentType="application/xml"/>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6" r:id="rId3"/>
    <p:sldId id="267" r:id="rId4"/>
    <p:sldId id="268" r:id="rId5"/>
    <p:sldId id="269" r:id="rId6"/>
    <p:sldId id="270" r:id="rId7"/>
    <p:sldId id="271" r:id="rId8"/>
    <p:sldId id="27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p:scale>
          <a:sx n="75" d="100"/>
          <a:sy n="75" d="100"/>
        </p:scale>
        <p:origin x="3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customXml" Target="../customXml/item3.xml"/><Relationship Id="rId14" Type="http://schemas.openxmlformats.org/officeDocument/2006/relationships/customXml" Target="../customXml/item2.xml"/><Relationship Id="rId13" Type="http://schemas.openxmlformats.org/officeDocument/2006/relationships/customXml" Target="../customXml/item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hemeOverride" Target="../theme/themeOverride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p:cNvSpPr>
            <a:spLocks noGrp="1" noRot="1" noChangeAspect="1" noMove="1" noResize="1" noEditPoints="1" noAdjustHandles="1" noChangeArrowheads="1" noChangeShapeType="1" noTextEdit="1"/>
          </p:cNvSpPr>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p:cNvSpPr>
            <a:spLocks noGrp="1"/>
          </p:cNvSpPr>
          <p:nvPr>
            <p:ph type="ctrTitle"/>
          </p:nvPr>
        </p:nvSpPr>
        <p:spPr>
          <a:xfrm>
            <a:off x="6730000" y="639097"/>
            <a:ext cx="4813072" cy="3494791"/>
          </a:xfrm>
        </p:spPr>
        <p:txBody>
          <a:bodyPr>
            <a:normAutofit fontScale="90000"/>
          </a:bodyPr>
          <a:lstStyle/>
          <a:p>
            <a:r>
              <a:rPr lang="en-US" sz="4400" dirty="0">
                <a:solidFill>
                  <a:srgbClr val="FF0000"/>
                </a:solidFill>
              </a:rPr>
              <a:t>KLH UNIVERSITY</a:t>
            </a:r>
            <a:br>
              <a:rPr lang="en-US" sz="4400" dirty="0"/>
            </a:br>
            <a:br>
              <a:rPr lang="en-US" sz="4400" dirty="0"/>
            </a:br>
            <a:r>
              <a:rPr lang="en-US" sz="2800" dirty="0"/>
              <a:t>NAMES:- </a:t>
            </a:r>
            <a:r>
              <a:rPr lang="en-US" sz="2800" dirty="0" err="1"/>
              <a:t>VokithaTalasila</a:t>
            </a:r>
            <a:r>
              <a:rPr lang="en-US" sz="2800" dirty="0"/>
              <a:t>:-2420030462</a:t>
            </a:r>
            <a:br>
              <a:rPr lang="en-US" sz="2800" dirty="0"/>
            </a:br>
            <a:r>
              <a:rPr lang="en-US" sz="2800" dirty="0"/>
              <a:t>Aditya Tej:-2420030520</a:t>
            </a:r>
            <a:br>
              <a:rPr lang="en-US" sz="2800" dirty="0"/>
            </a:br>
            <a:r>
              <a:rPr lang="en-US" sz="2800" dirty="0"/>
              <a:t>Sai Preetham :- 2420030608</a:t>
            </a:r>
            <a:br>
              <a:rPr lang="en-US" sz="2800" dirty="0"/>
            </a:br>
            <a:r>
              <a:rPr lang="en-US" sz="2800" dirty="0"/>
              <a:t>Sai Vardhan :- 2420030095</a:t>
            </a:r>
            <a:br>
              <a:rPr lang="en-US" sz="2800" dirty="0"/>
            </a:br>
            <a:br>
              <a:rPr lang="en-US" sz="2800" dirty="0"/>
            </a:br>
            <a:r>
              <a:rPr lang="en-US" sz="2800" dirty="0"/>
              <a:t>Instructor :- </a:t>
            </a:r>
            <a:r>
              <a:rPr lang="en-US" sz="2800" dirty="0" err="1"/>
              <a:t>Vineesha</a:t>
            </a:r>
            <a:r>
              <a:rPr lang="en-US" sz="2800" dirty="0"/>
              <a:t> </a:t>
            </a:r>
            <a:r>
              <a:rPr lang="en-US" sz="2800" dirty="0" err="1"/>
              <a:t>Velthuri</a:t>
            </a:r>
            <a:br>
              <a:rPr lang="en-US" sz="2800" dirty="0"/>
            </a:br>
            <a:endParaRPr lang="en-US" sz="2800" dirty="0"/>
          </a:p>
        </p:txBody>
      </p:sp>
      <p:sp>
        <p:nvSpPr>
          <p:cNvPr id="3" name="Subtitle 2"/>
          <p:cNvSpPr>
            <a:spLocks noGrp="1"/>
          </p:cNvSpPr>
          <p:nvPr>
            <p:ph type="subTitle" idx="1"/>
          </p:nvPr>
        </p:nvSpPr>
        <p:spPr>
          <a:xfrm>
            <a:off x="6729999" y="4455621"/>
            <a:ext cx="4829101" cy="1238616"/>
          </a:xfrm>
        </p:spPr>
        <p:txBody>
          <a:bodyPr>
            <a:normAutofit fontScale="25000" lnSpcReduction="20000"/>
          </a:bodyPr>
          <a:lstStyle/>
          <a:p>
            <a:pPr algn="ctr">
              <a:lnSpc>
                <a:spcPct val="107000"/>
              </a:lnSpc>
              <a:spcAft>
                <a:spcPts val="800"/>
              </a:spcAft>
            </a:pPr>
            <a:r>
              <a:rPr lang="en-US" sz="12800" dirty="0"/>
              <a:t>Project</a:t>
            </a:r>
            <a:r>
              <a:rPr lang="en-US" dirty="0"/>
              <a:t> :- </a:t>
            </a:r>
            <a:r>
              <a:rPr lang="en-IN" sz="2000" b="1" kern="100" dirty="0">
                <a:latin typeface="Times New Roman" panose="02020603050405020304" pitchFamily="18" charset="0"/>
                <a:ea typeface="Calibri" panose="020F0502020204030204" pitchFamily="34" charset="0"/>
                <a:cs typeface="Arial" panose="020B0604020202020204" pitchFamily="34" charset="0"/>
              </a:rPr>
              <a:t> </a:t>
            </a:r>
            <a:endParaRPr lang="en-IN" sz="1800" kern="100" dirty="0">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r>
              <a:rPr lang="en-IN" sz="6400" b="1" kern="100" dirty="0" err="1">
                <a:solidFill>
                  <a:srgbClr val="FF0000"/>
                </a:solidFill>
                <a:latin typeface="Times New Roman" panose="02020603050405020304" pitchFamily="18" charset="0"/>
                <a:ea typeface="Calibri" panose="020F0502020204030204" pitchFamily="34" charset="0"/>
                <a:cs typeface="Arial" panose="020B0604020202020204" pitchFamily="34" charset="0"/>
              </a:rPr>
              <a:t>ScamDetect</a:t>
            </a:r>
            <a:r>
              <a:rPr lang="en-IN" sz="6400" b="1" kern="100" dirty="0">
                <a:solidFill>
                  <a:srgbClr val="FF0000"/>
                </a:solidFill>
                <a:latin typeface="Times New Roman" panose="02020603050405020304" pitchFamily="18" charset="0"/>
                <a:ea typeface="Calibri" panose="020F0502020204030204" pitchFamily="34" charset="0"/>
                <a:cs typeface="Arial" panose="020B0604020202020204" pitchFamily="34" charset="0"/>
              </a:rPr>
              <a:t> AI: Social Media Fraud and Scam Message Detection</a:t>
            </a:r>
            <a:endParaRPr lang="en-IN" sz="6400" b="1" kern="100" dirty="0">
              <a:solidFill>
                <a:srgbClr val="FF0000"/>
              </a:solidFill>
              <a:latin typeface="Times New Roman" panose="02020603050405020304" pitchFamily="18" charset="0"/>
              <a:ea typeface="Calibri" panose="020F0502020204030204" pitchFamily="34" charset="0"/>
              <a:cs typeface="Arial" panose="020B0604020202020204" pitchFamily="34" charset="0"/>
            </a:endParaRPr>
          </a:p>
          <a:p>
            <a:pPr algn="ctr">
              <a:lnSpc>
                <a:spcPct val="107000"/>
              </a:lnSpc>
              <a:spcAft>
                <a:spcPts val="800"/>
              </a:spcAft>
            </a:pPr>
            <a:endParaRPr lang="en-IN" sz="1800" b="1" kern="100" dirty="0">
              <a:latin typeface="Times New Roman" panose="02020603050405020304" pitchFamily="18" charset="0"/>
              <a:ea typeface="Calibri" panose="020F0502020204030204" pitchFamily="34" charset="0"/>
              <a:cs typeface="Arial" panose="020B0604020202020204" pitchFamily="34" charset="0"/>
            </a:endParaRPr>
          </a:p>
          <a:p>
            <a:pPr algn="ctr">
              <a:lnSpc>
                <a:spcPct val="107000"/>
              </a:lnSpc>
              <a:spcAft>
                <a:spcPts val="800"/>
              </a:spcAft>
            </a:pPr>
            <a:r>
              <a:rPr lang="en-IN" sz="9600" kern="100" dirty="0">
                <a:latin typeface="Calibri" panose="020F0502020204030204" pitchFamily="34" charset="0"/>
                <a:ea typeface="Calibri" panose="020F0502020204030204" pitchFamily="34" charset="0"/>
                <a:cs typeface="Arial" panose="020B0604020202020204" pitchFamily="34" charset="0"/>
              </a:rPr>
              <a:t>I</a:t>
            </a:r>
            <a:endParaRPr lang="en-IN" sz="9600" kern="100" dirty="0">
              <a:latin typeface="Calibri" panose="020F0502020204030204" pitchFamily="34" charset="0"/>
              <a:ea typeface="Calibri" panose="020F0502020204030204" pitchFamily="34" charset="0"/>
              <a:cs typeface="Arial" panose="020B0604020202020204" pitchFamily="34" charset="0"/>
            </a:endParaRPr>
          </a:p>
          <a:p>
            <a:endParaRPr lang="en-US" dirty="0"/>
          </a:p>
        </p:txBody>
      </p:sp>
      <p:pic>
        <p:nvPicPr>
          <p:cNvPr id="6" name="Picture 5"/>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1" y="10"/>
            <a:ext cx="6096000" cy="6857990"/>
          </a:xfrm>
          <a:prstGeom prst="rect">
            <a:avLst/>
          </a:prstGeom>
        </p:spPr>
      </p:pic>
      <p:cxnSp>
        <p:nvCxnSpPr>
          <p:cNvPr id="26" name="Straight Connector 25"/>
          <p:cNvCxnSpPr>
            <a:cxnSpLocks noGrp="1" noRot="1" noChangeAspect="1" noMove="1" noResize="1" noEditPoints="1" noAdjustHandles="1" noChangeArrowheads="1" noChangeShapeType="1"/>
          </p:cNvCxnSpPr>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0" y="194733"/>
            <a:ext cx="10058400" cy="5674360"/>
          </a:xfrm>
        </p:spPr>
        <p:txBody>
          <a:bodyPr>
            <a:normAutofit fontScale="92500" lnSpcReduction="10000"/>
          </a:bodyPr>
          <a:lstStyle/>
          <a:p>
            <a:r>
              <a:rPr lang="en-IN" b="1" dirty="0"/>
              <a:t>Introduction</a:t>
            </a:r>
            <a:endParaRPr lang="en-IN" b="1" dirty="0"/>
          </a:p>
          <a:p>
            <a:r>
              <a:rPr lang="en-IN" dirty="0"/>
              <a:t>Social media has become an important part of everyday life. People use platforms such as Instagram, Facebook, WhatsApp, Telegram, X, and other online services to communicate, shop, find jobs, share information, and connect with businesses. However, the rapid growth of social media has also created new opportunities for scammers. Fraudulent messages, fake accounts, phishing links, investment scams, impersonation, fake job offers, online shopping fraud, and other forms of cybercrime are becoming increasingly common.</a:t>
            </a:r>
            <a:endParaRPr lang="en-IN" dirty="0"/>
          </a:p>
          <a:p>
            <a:r>
              <a:rPr lang="en-IN" dirty="0"/>
              <a:t>Many scams are designed to look genuine. A message may appear to come from a bank, a friend, a company, or even a government organization. Scammers often create a sense of urgency by asking users to click a link, share personal information, make a payment, or provide an OTP. Because these messages can look convincing, users may not realize that they are being targeted until they have already lost money or exposed sensitive information.</a:t>
            </a:r>
            <a:endParaRPr lang="en-IN" dirty="0"/>
          </a:p>
          <a:p>
            <a:r>
              <a:rPr lang="en-IN" dirty="0"/>
              <a:t>To address this problem, </a:t>
            </a:r>
            <a:r>
              <a:rPr lang="en-IN" b="1" dirty="0" err="1"/>
              <a:t>ScamDetect</a:t>
            </a:r>
            <a:r>
              <a:rPr lang="en-IN" b="1" dirty="0"/>
              <a:t> AI</a:t>
            </a:r>
            <a:r>
              <a:rPr lang="en-IN" dirty="0"/>
              <a:t> is proposed as an intelligent system for detecting fraudulent and suspicious messages on social media. The system uses Artificial Intelligence (AI), Natural Language Processing (NLP), and machine learning techniques to </a:t>
            </a:r>
            <a:r>
              <a:rPr lang="en-IN" dirty="0" err="1"/>
              <a:t>analyze</a:t>
            </a:r>
            <a:r>
              <a:rPr lang="en-IN" dirty="0"/>
              <a:t> messages and identify patterns commonly associated with scams. The main objective is to provide users with an early warning before they interact with potentially harmful content.</a:t>
            </a:r>
            <a:endParaRPr lang="en-IN"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0" y="1"/>
            <a:ext cx="10058400" cy="5869092"/>
          </a:xfrm>
        </p:spPr>
        <p:txBody>
          <a:bodyPr>
            <a:normAutofit/>
          </a:bodyPr>
          <a:lstStyle/>
          <a:p>
            <a:r>
              <a:rPr lang="en-IN" b="1" dirty="0"/>
              <a:t>Problem Statement</a:t>
            </a:r>
            <a:endParaRPr lang="en-IN" b="1" dirty="0"/>
          </a:p>
          <a:p>
            <a:r>
              <a:rPr lang="en-IN" dirty="0"/>
              <a:t>Traditional methods of identifying online scams depend heavily on users recognizing suspicious </a:t>
            </a:r>
            <a:r>
              <a:rPr lang="en-IN" dirty="0" err="1"/>
              <a:t>behavior</a:t>
            </a:r>
            <a:r>
              <a:rPr lang="en-IN" dirty="0"/>
              <a:t> themselves. This can be difficult, especially for people who are not familiar with common cybercrime techniques. Scammers continuously change their wording, create new types of fake offers, and use social engineering techniques to gain the trust of their victims.</a:t>
            </a:r>
            <a:endParaRPr lang="en-IN" dirty="0"/>
          </a:p>
          <a:p>
            <a:r>
              <a:rPr lang="en-IN" dirty="0"/>
              <a:t>For example, a scammer might send a message such as, “Congratulations! You have won a cash prize. Click this link within 10 minutes to claim your reward.” Another common example is a fake job message promising a high salary while requesting an upfront registration fee. Investment scams may promise unrealistic returns and pressure users to transfer money immediately.</a:t>
            </a:r>
            <a:endParaRPr lang="en-IN" dirty="0"/>
          </a:p>
          <a:p>
            <a:r>
              <a:rPr lang="en-IN" dirty="0"/>
              <a:t>Manually checking every message is not practical. Therefore, there is a need for an automated system that can </a:t>
            </a:r>
            <a:r>
              <a:rPr lang="en-IN" dirty="0" err="1"/>
              <a:t>analyze</a:t>
            </a:r>
            <a:r>
              <a:rPr lang="en-IN" dirty="0"/>
              <a:t> messages quickly and alert users when suspicious characteristics are detected.</a:t>
            </a:r>
            <a:endParaRPr lang="en-IN"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0"/>
            <a:ext cx="10664613" cy="6113779"/>
          </a:xfrm>
        </p:spPr>
        <p:txBody>
          <a:bodyPr>
            <a:normAutofit/>
          </a:bodyPr>
          <a:lstStyle/>
          <a:p>
            <a:r>
              <a:rPr lang="en-IN" b="1" dirty="0"/>
              <a:t>Proposed Solution</a:t>
            </a:r>
            <a:endParaRPr lang="en-IN" b="1" dirty="0"/>
          </a:p>
          <a:p>
            <a:r>
              <a:rPr lang="en-IN" dirty="0" err="1"/>
              <a:t>ScamDetect</a:t>
            </a:r>
            <a:r>
              <a:rPr lang="en-IN" dirty="0"/>
              <a:t> AI is designed as an AI-powered fraud detection platform that examines social media messages and determines whether they are likely to be legitimate, suspicious, or fraudulent. The system can </a:t>
            </a:r>
            <a:r>
              <a:rPr lang="en-IN" dirty="0" err="1"/>
              <a:t>analyze</a:t>
            </a:r>
            <a:r>
              <a:rPr lang="en-IN" dirty="0"/>
              <a:t> the text of a message and identify specific features associated with scam </a:t>
            </a:r>
            <a:r>
              <a:rPr lang="en-IN" dirty="0" err="1"/>
              <a:t>behavior</a:t>
            </a:r>
            <a:r>
              <a:rPr lang="en-IN" dirty="0"/>
              <a:t>.</a:t>
            </a:r>
            <a:endParaRPr lang="en-IN" dirty="0"/>
          </a:p>
          <a:p>
            <a:r>
              <a:rPr lang="en-IN" dirty="0"/>
              <a:t>The application can use NLP techniques to process the message and understand important elements such as keywords, sentence structure, urgency, requests for money, suspicious offers, and potentially harmful links. Machine learning models can then classify the message based on patterns learned from previously identified legitimate and fraudulent messages.</a:t>
            </a:r>
            <a:endParaRPr lang="en-IN" dirty="0"/>
          </a:p>
          <a:p>
            <a:r>
              <a:rPr lang="en-IN" dirty="0"/>
              <a:t>Instead of simply displaying a technical warning, </a:t>
            </a:r>
            <a:r>
              <a:rPr lang="en-IN" dirty="0" err="1"/>
              <a:t>ScamDetect</a:t>
            </a:r>
            <a:r>
              <a:rPr lang="en-IN" dirty="0"/>
              <a:t> AI can provide a simple explanation to the user. For example, it may say that a message appears suspicious because it contains an urgent payment request, promises unrealistic rewards, or includes a potentially dangerous link. This makes the system more useful for users who may not understand cybersecurity terminology.</a:t>
            </a:r>
            <a:endParaRPr lang="en-IN" dirty="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24933" y="612845"/>
            <a:ext cx="10896600" cy="3416320"/>
          </a:xfrm>
          <a:prstGeom prst="rect">
            <a:avLst/>
          </a:prstGeom>
          <a:noFill/>
        </p:spPr>
        <p:txBody>
          <a:bodyPr wrap="square">
            <a:spAutoFit/>
          </a:bodyPr>
          <a:lstStyle/>
          <a:p>
            <a:pPr>
              <a:buNone/>
            </a:pPr>
            <a:r>
              <a:rPr lang="en-IN" b="1" dirty="0"/>
              <a:t>Working Process</a:t>
            </a:r>
            <a:endParaRPr lang="en-IN" b="1" dirty="0"/>
          </a:p>
          <a:p>
            <a:pPr>
              <a:buNone/>
            </a:pPr>
            <a:r>
              <a:rPr lang="en-IN" dirty="0"/>
              <a:t>The working process of </a:t>
            </a:r>
            <a:r>
              <a:rPr lang="en-IN" dirty="0" err="1"/>
              <a:t>ScamDetect</a:t>
            </a:r>
            <a:r>
              <a:rPr lang="en-IN" dirty="0"/>
              <a:t> AI can be divided into several stages. First, the user provides a message or suspicious content to the system. The application then preprocesses the text by removing unnecessary characters and identifying important words and patterns.</a:t>
            </a:r>
            <a:endParaRPr lang="en-IN" dirty="0"/>
          </a:p>
          <a:p>
            <a:pPr>
              <a:buNone/>
            </a:pPr>
            <a:r>
              <a:rPr lang="en-IN" dirty="0"/>
              <a:t>Next, the AI model </a:t>
            </a:r>
            <a:r>
              <a:rPr lang="en-IN" dirty="0" err="1"/>
              <a:t>analyzes</a:t>
            </a:r>
            <a:r>
              <a:rPr lang="en-IN" dirty="0"/>
              <a:t> the message. It looks for indicators such as requests for money, suspicious URLs, unrealistic promises, urgent instructions, impersonation attempts, and unusual language patterns. The model compares these characteristics with patterns learned from a training dataset.</a:t>
            </a:r>
            <a:endParaRPr lang="en-IN" dirty="0"/>
          </a:p>
          <a:p>
            <a:pPr>
              <a:buNone/>
            </a:pPr>
            <a:r>
              <a:rPr lang="en-IN" dirty="0"/>
              <a:t>After the analysis, the system generates a classification and risk score. For example, the message may be classified as </a:t>
            </a:r>
            <a:r>
              <a:rPr lang="en-IN" b="1" dirty="0"/>
              <a:t>Safe</a:t>
            </a:r>
            <a:r>
              <a:rPr lang="en-IN" dirty="0"/>
              <a:t>, </a:t>
            </a:r>
            <a:r>
              <a:rPr lang="en-IN" b="1" dirty="0"/>
              <a:t>Suspicious</a:t>
            </a:r>
            <a:r>
              <a:rPr lang="en-IN" dirty="0"/>
              <a:t>, or </a:t>
            </a:r>
            <a:r>
              <a:rPr lang="en-IN" b="1" dirty="0"/>
              <a:t>High Risk</a:t>
            </a:r>
            <a:r>
              <a:rPr lang="en-IN" dirty="0"/>
              <a:t>. The system can also explain the main reasons behind its decision.</a:t>
            </a:r>
            <a:endParaRPr lang="en-IN" dirty="0"/>
          </a:p>
          <a:p>
            <a:pPr>
              <a:buNone/>
            </a:pPr>
            <a:r>
              <a:rPr lang="en-IN" dirty="0"/>
              <a:t>Finally, the user receives a warning and recommended action. If the message is considered highly suspicious, the application may advise the user not to click links, share personal information, send money, or respond to the sender.</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94267" y="1305342"/>
            <a:ext cx="11091333" cy="2585323"/>
          </a:xfrm>
          <a:prstGeom prst="rect">
            <a:avLst/>
          </a:prstGeom>
          <a:noFill/>
        </p:spPr>
        <p:txBody>
          <a:bodyPr wrap="square">
            <a:spAutoFit/>
          </a:bodyPr>
          <a:lstStyle/>
          <a:p>
            <a:pPr>
              <a:buNone/>
            </a:pPr>
            <a:r>
              <a:rPr lang="en-IN" b="1" dirty="0"/>
              <a:t>Future Scope</a:t>
            </a:r>
            <a:endParaRPr lang="en-IN" b="1" dirty="0"/>
          </a:p>
          <a:p>
            <a:pPr>
              <a:buNone/>
            </a:pPr>
            <a:r>
              <a:rPr lang="en-IN" dirty="0" err="1"/>
              <a:t>ScamDetect</a:t>
            </a:r>
            <a:r>
              <a:rPr lang="en-IN" dirty="0"/>
              <a:t> AI can be expanded significantly in the future. The system could support multiple languages, making it useful for users from different regions. Voice-based scam detection could also be introduced to identify fraudulent phone calls or voice messages.</a:t>
            </a:r>
            <a:endParaRPr lang="en-IN" dirty="0"/>
          </a:p>
          <a:p>
            <a:pPr>
              <a:buNone/>
            </a:pPr>
            <a:r>
              <a:rPr lang="en-IN" dirty="0"/>
              <a:t>The application could eventually be integrated with social media and messaging platforms to provide automatic warnings. Advanced AI models could </a:t>
            </a:r>
            <a:r>
              <a:rPr lang="en-IN" dirty="0" err="1"/>
              <a:t>analyze</a:t>
            </a:r>
            <a:r>
              <a:rPr lang="en-IN" dirty="0"/>
              <a:t> not only message text but also images, profiles, links, and </a:t>
            </a:r>
            <a:r>
              <a:rPr lang="en-IN" dirty="0" err="1"/>
              <a:t>behavioral</a:t>
            </a:r>
            <a:r>
              <a:rPr lang="en-IN" dirty="0"/>
              <a:t> patterns to detect more sophisticated scams.</a:t>
            </a:r>
            <a:endParaRPr lang="en-IN" dirty="0"/>
          </a:p>
          <a:p>
            <a:pPr>
              <a:buNone/>
            </a:pPr>
            <a:r>
              <a:rPr lang="en-IN" dirty="0"/>
              <a:t>Another possible development is a centralized scam intelligence database that collects anonymized information about reported fraudulent activities. This could help identify new scam trends and improve detection accuracy.</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31800" y="1166843"/>
            <a:ext cx="11353800" cy="2585323"/>
          </a:xfrm>
          <a:prstGeom prst="rect">
            <a:avLst/>
          </a:prstGeom>
          <a:noFill/>
        </p:spPr>
        <p:txBody>
          <a:bodyPr wrap="square">
            <a:spAutoFit/>
          </a:bodyPr>
          <a:lstStyle/>
          <a:p>
            <a:pPr>
              <a:buNone/>
            </a:pPr>
            <a:r>
              <a:rPr lang="en-IN" b="1" dirty="0"/>
              <a:t>Conclusion</a:t>
            </a:r>
            <a:endParaRPr lang="en-IN" b="1" dirty="0"/>
          </a:p>
          <a:p>
            <a:pPr>
              <a:buNone/>
            </a:pPr>
            <a:r>
              <a:rPr lang="en-IN" dirty="0" err="1"/>
              <a:t>ScamDetect</a:t>
            </a:r>
            <a:r>
              <a:rPr lang="en-IN" dirty="0"/>
              <a:t> AI is an AI-based approach to addressing the growing problem of social media fraud and scam messages. By combining Natural Language Processing, machine learning, suspicious-link analysis, and user feedback, the system can help users recognize potentially dangerous content before they become victims.</a:t>
            </a:r>
            <a:endParaRPr lang="en-IN" dirty="0"/>
          </a:p>
          <a:p>
            <a:pPr>
              <a:buNone/>
            </a:pPr>
            <a:r>
              <a:rPr lang="en-IN" dirty="0"/>
              <a:t>The goal of </a:t>
            </a:r>
            <a:r>
              <a:rPr lang="en-IN" dirty="0" err="1"/>
              <a:t>ScamDetect</a:t>
            </a:r>
            <a:r>
              <a:rPr lang="en-IN" dirty="0"/>
              <a:t> AI is not to replace human judgment but to provide users with an intelligent warning system that makes online communication safer. As scammers continue to develop more convincing techniques, automated detection systems will become increasingly important. With further development, </a:t>
            </a:r>
            <a:r>
              <a:rPr lang="en-IN" dirty="0" err="1"/>
              <a:t>ScamDetect</a:t>
            </a:r>
            <a:r>
              <a:rPr lang="en-IN" dirty="0"/>
              <a:t> AI could evolve into a comprehensive cybersecurity solution capable of protecting users across social media, messaging applications, and other digital platforms.</a:t>
            </a:r>
            <a:endParaRPr lang="en-IN" dirty="0"/>
          </a:p>
        </p:txBody>
      </p:sp>
    </p:spTree>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3CD65D-61A5-43C9-A837-6EC73C7DA8AB}">
  <ds:schemaRefs/>
</ds:datastoreItem>
</file>

<file path=customXml/itemProps2.xml><?xml version="1.0" encoding="utf-8"?>
<ds:datastoreItem xmlns:ds="http://schemas.openxmlformats.org/officeDocument/2006/customXml" ds:itemID="{31F006B4-A9E1-4F39-85C8-FB836F919348}">
  <ds:schemaRefs/>
</ds:datastoreItem>
</file>

<file path=customXml/itemProps3.xml><?xml version="1.0" encoding="utf-8"?>
<ds:datastoreItem xmlns:ds="http://schemas.openxmlformats.org/officeDocument/2006/customXml" ds:itemID="{16377351-63A1-4C2E-8C9A-66CDD70F16AC}">
  <ds:schemaRefs/>
</ds:datastoreItem>
</file>

<file path=docProps/app.xml><?xml version="1.0" encoding="utf-8"?>
<Properties xmlns="http://schemas.openxmlformats.org/officeDocument/2006/extended-properties" xmlns:vt="http://schemas.openxmlformats.org/officeDocument/2006/docPropsVTypes">
  <Template>{5B1F9764-ED8E-4E25-83D9-BAB4E295B61F}TF235124e3-e6db-4c6d-93c8-733f2fadbc609fb6f57c_win32-b1e91d96f19e</Template>
  <TotalTime>0</TotalTime>
  <Words>6224</Words>
  <Application>WPS Presentation</Application>
  <PresentationFormat>Widescreen</PresentationFormat>
  <Paragraphs>41</Paragraphs>
  <Slides>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vt:i4>
      </vt:variant>
    </vt:vector>
  </HeadingPairs>
  <TitlesOfParts>
    <vt:vector size="18" baseType="lpstr">
      <vt:lpstr>Arial</vt:lpstr>
      <vt:lpstr>SimSun</vt:lpstr>
      <vt:lpstr>Wingdings</vt:lpstr>
      <vt:lpstr>Calibri</vt:lpstr>
      <vt:lpstr>Speak Pro</vt:lpstr>
      <vt:lpstr>Times New Roman</vt:lpstr>
      <vt:lpstr>Georgia Pro Cond Light</vt:lpstr>
      <vt:lpstr>Georgia</vt:lpstr>
      <vt:lpstr>Microsoft YaHei</vt:lpstr>
      <vt:lpstr>Arial Unicode MS</vt:lpstr>
      <vt:lpstr>RetrospectVTI</vt:lpstr>
      <vt:lpstr>KLH UNIVERSITY  NAMES:- VokithaTalasila:-2420030462 Aditya Tej:-2420030520 Sai Preetham :- 2420030608 Sai Vardhan :- 2420030095  Instructor :- Vineesha Velthuri </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vokitha talasila</dc:creator>
  <cp:lastModifiedBy>ADITYA</cp:lastModifiedBy>
  <cp:revision>2</cp:revision>
  <dcterms:created xsi:type="dcterms:W3CDTF">2026-08-20T04:58:00Z</dcterms:created>
  <dcterms:modified xsi:type="dcterms:W3CDTF">2026-08-20T05:56:29Z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CAA54614885646AF8115A8C877F843A3_13</vt:lpwstr>
  </property>
  <property fmtid="{D5CDD505-2E9C-101B-9397-08002B2CF9AE}" pid="4" name="KSOProductBuildVer">
    <vt:lpwstr>1033-12.1.0.26880</vt:lpwstr>
  </property>
</Properties>
</file>